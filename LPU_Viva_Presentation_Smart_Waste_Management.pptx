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9" r:id="rId9"/>
    <p:sldId id="264" r:id="rId10"/>
    <p:sldId id="280" r:id="rId11"/>
    <p:sldId id="265" r:id="rId12"/>
    <p:sldId id="266" r:id="rId13"/>
    <p:sldId id="267" r:id="rId14"/>
    <p:sldId id="268" r:id="rId15"/>
    <p:sldId id="281" r:id="rId16"/>
    <p:sldId id="269" r:id="rId17"/>
    <p:sldId id="282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1F4F-7FB9-E705-6311-F562DA0CD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8328F-6A4C-9FE4-8981-A4AFEC929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3896-295F-67F5-1CE4-7B0588B0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DB297-9671-17A6-2AE8-05565EEF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81937-66E6-896D-55B9-61AE3373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8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762F-1397-5E82-EAF5-459ACB64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80BD0-B41A-93ED-033B-D113D0B7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E9DF-6474-9F8F-74CE-A7AEB581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CFC8D-7EA2-D8C8-9386-18A1C898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6E1CD-B71D-20A8-87D5-84EB65E6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36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3AD1-26F8-823F-679B-D0687BCB2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78219-DD28-D278-B827-42FE8E07F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F7E3F-F4F2-844A-890C-C12B71FF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7489-8E22-7BC8-E647-62B07E56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534F3-18EE-C3FB-89E9-01B6485E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70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20BB-515D-2D8C-82EE-3058B139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F81B0-5D8B-1C64-3CB6-CCB52C4A9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1B512-32A7-3A96-2E96-6774249A3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2927C-9077-51F7-C07B-AC5FC19F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8EB29-E98E-9857-E4ED-5868B006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FB764-9F1D-9CF7-004F-2B58F5FA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3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8B6F-247B-4C43-FC8E-20767DF7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8A2DD-529A-446F-D18D-51BF6C5E8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D7B02-02B5-2B37-0C34-72773B4E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83421-11D0-A02F-1F88-03BFCA113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85F8B-FFF6-C3DE-7A1E-6B7B4289E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5CC07-BFB1-2896-54CE-7C0B59DC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D7611-D359-DA3A-7B04-6B976CF0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94B45-1A40-7740-6F93-4F4E887E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14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EC7F-C9E1-754F-46BC-1C5CD8AB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C93BF-BF6E-90B4-FF07-43476C06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94A09-906A-87FE-B229-302FBACD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AD24-AF6C-DF6A-F7DB-CED742F4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6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59A3D-CEC6-2B37-ADB9-23DE5AF2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F21C1-CCE0-17D5-9546-59CF993D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5A349-77F9-6027-F3E9-5EE5A166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65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329B-1D4F-7663-D453-850601EB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F9B61-54FA-4344-DE0F-FCF6CF24B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05994-C654-9F38-7D72-4F102255D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AC175-6B3B-1677-288D-52EF3F46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40BCB-9069-0A30-F50A-D0FCD037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F6672-5300-F692-450C-E8C7E5B3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6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C4B5-6761-26A4-CF5A-7FAEFD00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BB524-A1D7-C0B7-8645-E3E521C14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030CC-47B6-A656-D954-2DBDF5BF1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AC583-9844-CD81-B538-789B34C4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9C370-69B7-ABA7-198D-9DF63AA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10075-A381-912B-77D3-09EE3B29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13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6C40-D377-AA0F-4476-37C47EAC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2F45C-80BC-827F-84B2-BA7963DD0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21908-49EA-1BCA-3BE2-29A6BD77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5D3E-E970-03F1-EF25-44940E2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6D38C-1A2A-18C0-80BC-077074AF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44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FE58E-A3E2-E118-D96D-175F4F24D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9ACA4-2778-EAB7-52E8-9D2D865FB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1BC9A-CCF1-ECA7-D13A-AED359D2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B895-AA1E-416F-F1B2-E5F5C623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03CD0-A461-9648-7083-CDB13BD0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92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3BCF5-3F55-482A-0E9B-529031C4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B1988-D003-231E-3400-1C3B2699F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7C5F8-A0B9-AE67-B733-309DD700C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A665F-5033-4D2C-B176-2A687B496B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1FB74-813F-D2A8-B632-D799AB836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798D-4C93-BF22-E8A3-F88299F3B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7AE06-C818-4A0D-9DD6-D96786353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50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5AA704-A27C-5ABC-D9DF-A3EF8DF324B6}"/>
              </a:ext>
            </a:extLst>
          </p:cNvPr>
          <p:cNvSpPr/>
          <p:nvPr/>
        </p:nvSpPr>
        <p:spPr>
          <a:xfrm>
            <a:off x="889000" y="1333500"/>
            <a:ext cx="7366000" cy="165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Ins="177800" bIns="10160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Aptos" panose="020B0004020202020204" pitchFamily="34" charset="0"/>
              </a:rPr>
              <a:t>Smart Waste Complaint and Collection Management System</a:t>
            </a:r>
            <a:endParaRPr lang="en-IN" sz="3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8D1DFB-CE70-1D7B-BBC5-B5A1050664D7}"/>
              </a:ext>
            </a:extLst>
          </p:cNvPr>
          <p:cNvSpPr/>
          <p:nvPr/>
        </p:nvSpPr>
        <p:spPr>
          <a:xfrm>
            <a:off x="1143000" y="3111500"/>
            <a:ext cx="6858000" cy="1016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500" b="1" dirty="0">
                <a:solidFill>
                  <a:srgbClr val="134E4A"/>
                </a:solidFill>
                <a:latin typeface="Aptos" panose="020B0004020202020204" pitchFamily="34" charset="0"/>
              </a:rPr>
              <a:t>MCA Project Presentation | Lovely Professional University | 2026</a:t>
            </a:r>
          </a:p>
          <a:p>
            <a:pPr algn="ctr"/>
            <a:r>
              <a:rPr lang="en-IN" sz="1500" b="1" dirty="0">
                <a:solidFill>
                  <a:srgbClr val="134E4A"/>
                </a:solidFill>
                <a:latin typeface="Aptos" panose="020B0004020202020204" pitchFamily="34" charset="0"/>
              </a:rPr>
              <a:t>Laiba Naushad (324101314)</a:t>
            </a:r>
          </a:p>
        </p:txBody>
      </p:sp>
    </p:spTree>
    <p:extLst>
      <p:ext uri="{BB962C8B-B14F-4D97-AF65-F5344CB8AC3E}">
        <p14:creationId xmlns:p14="http://schemas.microsoft.com/office/powerpoint/2010/main" val="131999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DA8DD5-5645-B9D1-1236-2EEDA20EACD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573152-DD14-20B0-AD99-0E98106586CA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Citizens report overflowing bins, missed pickups, and illegal dumping through informal channels.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Manual complaint handling makes accountability, location tracking, and status visibility difficult.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Administrators need a unified view of complaints, workers, and high-priority cases.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Sanitation workers need assigned task lists and proof-based closure.</a:t>
            </a:r>
            <a:endParaRPr lang="en-IN" sz="15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67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C243C8-E623-1624-63AF-864CCD3F1D3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Aim and Objectives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C2F305-2F62-6349-3EDD-F2D0A54EA36A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Digitize the full complaint lifecycle from citizen submission to worker resolution.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Provide role-based portals for citizens, administrators, and workers.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Capture geo-tagged complaint locations using an interactive Leaflet map.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Support photo upload for complaint evidence and resolution proof.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Generate analytics for status, category distribution, and recent trends.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334155"/>
                </a:solidFill>
                <a:latin typeface="Aptos" panose="020B0004020202020204" pitchFamily="34" charset="0"/>
              </a:rPr>
              <a:t>- Escalate unresolved complaints after a configurable SLA window.</a:t>
            </a:r>
            <a:endParaRPr lang="en-IN" sz="15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74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5EA1E-3AC2-060A-7D8B-1818866DB13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Research Gap and Proposed Solution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BCAE6B-D766-0A68-4DDE-8CEE0B7DEC75}"/>
              </a:ext>
            </a:extLst>
          </p:cNvPr>
          <p:cNvSpPr/>
          <p:nvPr/>
        </p:nvSpPr>
        <p:spPr>
          <a:xfrm>
            <a:off x="571500" y="1219200"/>
            <a:ext cx="3746500" cy="4318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Research Gap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B42104-276B-4540-2CAB-C7C051DD9261}"/>
              </a:ext>
            </a:extLst>
          </p:cNvPr>
          <p:cNvSpPr/>
          <p:nvPr/>
        </p:nvSpPr>
        <p:spPr>
          <a:xfrm>
            <a:off x="571500" y="1778000"/>
            <a:ext cx="3746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IoT systems focus mainly on sensors and bins.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Traditional grievance systems often lack map pins and worker-level closure.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Address-based search fails when citizens leave address fields incomplete.</a:t>
            </a:r>
            <a:endParaRPr lang="en-IN" sz="14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F6091C-D8EA-4697-20D5-D4BA96061A91}"/>
              </a:ext>
            </a:extLst>
          </p:cNvPr>
          <p:cNvSpPr/>
          <p:nvPr/>
        </p:nvSpPr>
        <p:spPr>
          <a:xfrm>
            <a:off x="4826000" y="1219200"/>
            <a:ext cx="3746500" cy="431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Proposed Solution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6EB445-2B73-9677-0448-E555610F41EF}"/>
              </a:ext>
            </a:extLst>
          </p:cNvPr>
          <p:cNvSpPr/>
          <p:nvPr/>
        </p:nvSpPr>
        <p:spPr>
          <a:xfrm>
            <a:off x="4826000" y="1778000"/>
            <a:ext cx="3746500" cy="381000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Three-role MERN web application.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Map pin and photo-driven complaint submission.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Admin dashboard with maps, filters, assignment, and analytics.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Distance search using the Haversine formula.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Audit logs and email notifications.</a:t>
            </a:r>
            <a:endParaRPr lang="en-IN" sz="14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6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85BED-9DCC-1B70-8CE3-E1271808605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0F2971-7370-92A2-CF7F-CEF62A897F65}"/>
              </a:ext>
            </a:extLst>
          </p:cNvPr>
          <p:cNvSpPr/>
          <p:nvPr/>
        </p:nvSpPr>
        <p:spPr>
          <a:xfrm>
            <a:off x="571500" y="139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Frontend</a:t>
            </a:r>
          </a:p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React 18, Vite, Tailwind CSS, React Router, Recharts, Leaflet</a:t>
            </a:r>
            <a:endParaRPr lang="en-IN" sz="13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8CDD4C-2E6D-F7A0-DA4F-A17945F9405D}"/>
              </a:ext>
            </a:extLst>
          </p:cNvPr>
          <p:cNvSpPr/>
          <p:nvPr/>
        </p:nvSpPr>
        <p:spPr>
          <a:xfrm>
            <a:off x="3365500" y="139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Backend</a:t>
            </a:r>
          </a:p>
          <a:p>
            <a:pPr algn="ctr"/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Node.js, Express.js, REST APIs, JWT, </a:t>
            </a:r>
            <a:r>
              <a:rPr lang="en-IN" sz="1300" b="1" dirty="0" err="1">
                <a:solidFill>
                  <a:srgbClr val="0F172A"/>
                </a:solidFill>
                <a:latin typeface="Aptos" panose="020B0004020202020204" pitchFamily="34" charset="0"/>
              </a:rPr>
              <a:t>bcrypt</a:t>
            </a:r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, Multer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395E8C-52F1-1184-DE4D-63C8A8381B4F}"/>
              </a:ext>
            </a:extLst>
          </p:cNvPr>
          <p:cNvSpPr/>
          <p:nvPr/>
        </p:nvSpPr>
        <p:spPr>
          <a:xfrm>
            <a:off x="6159500" y="1397000"/>
            <a:ext cx="2413000" cy="1206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Database</a:t>
            </a:r>
          </a:p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MongoDB with Mongoose models</a:t>
            </a:r>
            <a:endParaRPr lang="en-IN" sz="13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435BB0-9EA5-9FF0-FAE3-5403B4357048}"/>
              </a:ext>
            </a:extLst>
          </p:cNvPr>
          <p:cNvSpPr/>
          <p:nvPr/>
        </p:nvSpPr>
        <p:spPr>
          <a:xfrm>
            <a:off x="1333500" y="3175000"/>
            <a:ext cx="2921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300" b="1" dirty="0">
                <a:solidFill>
                  <a:srgbClr val="0F172A"/>
                </a:solidFill>
                <a:latin typeface="Aptos" panose="020B0004020202020204" pitchFamily="34" charset="0"/>
              </a:rPr>
              <a:t>Integrations</a:t>
            </a:r>
          </a:p>
          <a:p>
            <a:pPr algn="ctr"/>
            <a:r>
              <a:rPr lang="en-US" sz="1300" b="1" dirty="0" err="1">
                <a:solidFill>
                  <a:srgbClr val="0F172A"/>
                </a:solidFill>
                <a:latin typeface="Aptos" panose="020B0004020202020204" pitchFamily="34" charset="0"/>
              </a:rPr>
              <a:t>Cloudinary</a:t>
            </a:r>
            <a:r>
              <a:rPr lang="en-US" sz="1300" b="1" dirty="0">
                <a:solidFill>
                  <a:srgbClr val="0F172A"/>
                </a:solidFill>
                <a:latin typeface="Aptos" panose="020B0004020202020204" pitchFamily="34" charset="0"/>
              </a:rPr>
              <a:t>, Gmail API, node-</a:t>
            </a:r>
            <a:r>
              <a:rPr lang="en-US" sz="1300" b="1" dirty="0" err="1">
                <a:solidFill>
                  <a:srgbClr val="0F172A"/>
                </a:solidFill>
                <a:latin typeface="Aptos" panose="020B0004020202020204" pitchFamily="34" charset="0"/>
              </a:rPr>
              <a:t>cron</a:t>
            </a:r>
            <a:r>
              <a:rPr lang="en-US" sz="1300" b="1" dirty="0">
                <a:solidFill>
                  <a:srgbClr val="0F172A"/>
                </a:solidFill>
                <a:latin typeface="Aptos" panose="020B0004020202020204" pitchFamily="34" charset="0"/>
              </a:rPr>
              <a:t> SLA job</a:t>
            </a:r>
            <a:endParaRPr lang="en-IN" sz="13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BD42ED-D144-8299-7E82-FABC816FE49C}"/>
              </a:ext>
            </a:extLst>
          </p:cNvPr>
          <p:cNvSpPr/>
          <p:nvPr/>
        </p:nvSpPr>
        <p:spPr>
          <a:xfrm>
            <a:off x="4889500" y="3175000"/>
            <a:ext cx="2921000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Tools</a:t>
            </a:r>
          </a:p>
          <a:p>
            <a:pPr algn="ctr"/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VS Code, </a:t>
            </a:r>
            <a:r>
              <a:rPr lang="en-IN" sz="1300" b="1" dirty="0" err="1">
                <a:solidFill>
                  <a:srgbClr val="0F172A"/>
                </a:solidFill>
                <a:latin typeface="Aptos" panose="020B0004020202020204" pitchFamily="34" charset="0"/>
              </a:rPr>
              <a:t>npm</a:t>
            </a:r>
            <a:r>
              <a:rPr lang="en-IN" sz="1300" b="1" dirty="0">
                <a:solidFill>
                  <a:srgbClr val="0F172A"/>
                </a:solidFill>
                <a:latin typeface="Aptos" panose="020B0004020202020204" pitchFamily="34" charset="0"/>
              </a:rPr>
              <a:t>, </a:t>
            </a:r>
            <a:r>
              <a:rPr lang="en-IN" sz="1300" b="1" dirty="0" err="1">
                <a:solidFill>
                  <a:srgbClr val="0F172A"/>
                </a:solidFill>
                <a:latin typeface="Aptos" panose="020B0004020202020204" pitchFamily="34" charset="0"/>
              </a:rPr>
              <a:t>Nodemon</a:t>
            </a:r>
            <a:endParaRPr lang="en-IN" sz="13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40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CC9879-901E-5C19-38D5-3A68B89F45C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2742D9-746D-19F7-1C12-1A53FA7B2853}"/>
              </a:ext>
            </a:extLst>
          </p:cNvPr>
          <p:cNvSpPr/>
          <p:nvPr/>
        </p:nvSpPr>
        <p:spPr>
          <a:xfrm>
            <a:off x="444500" y="1587500"/>
            <a:ext cx="1587500" cy="609600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>
                <a:solidFill>
                  <a:srgbClr val="166534"/>
                </a:solidFill>
                <a:latin typeface="Aptos" panose="020B0004020202020204" pitchFamily="34" charset="0"/>
              </a:rPr>
              <a:t>Citizen Portal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66BD2B-5557-451F-CDA1-2885909F3118}"/>
              </a:ext>
            </a:extLst>
          </p:cNvPr>
          <p:cNvSpPr/>
          <p:nvPr/>
        </p:nvSpPr>
        <p:spPr>
          <a:xfrm>
            <a:off x="444500" y="2857500"/>
            <a:ext cx="1587500" cy="60960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>
                <a:solidFill>
                  <a:srgbClr val="1E40AF"/>
                </a:solidFill>
                <a:latin typeface="Aptos" panose="020B0004020202020204" pitchFamily="34" charset="0"/>
              </a:rPr>
              <a:t>Admin Portal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ABA4AA-D2E9-9997-5BF2-51E438364D4A}"/>
              </a:ext>
            </a:extLst>
          </p:cNvPr>
          <p:cNvSpPr/>
          <p:nvPr/>
        </p:nvSpPr>
        <p:spPr>
          <a:xfrm>
            <a:off x="444500" y="4127500"/>
            <a:ext cx="1587500" cy="60960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>
                <a:solidFill>
                  <a:srgbClr val="92400E"/>
                </a:solidFill>
                <a:latin typeface="Aptos" panose="020B0004020202020204" pitchFamily="34" charset="0"/>
              </a:rPr>
              <a:t>Worker Portal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EB2CCD-BC85-93E1-3896-2E9FF0C4B2C4}"/>
              </a:ext>
            </a:extLst>
          </p:cNvPr>
          <p:cNvSpPr/>
          <p:nvPr/>
        </p:nvSpPr>
        <p:spPr>
          <a:xfrm>
            <a:off x="2794000" y="2857500"/>
            <a:ext cx="1778000" cy="78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React SPA</a:t>
            </a:r>
          </a:p>
          <a:p>
            <a:pPr algn="ctr"/>
            <a:r>
              <a:rPr lang="en-US" sz="1300" b="1">
                <a:solidFill>
                  <a:srgbClr val="0F172A"/>
                </a:solidFill>
                <a:latin typeface="Aptos" panose="020B0004020202020204" pitchFamily="34" charset="0"/>
              </a:rPr>
              <a:t>Route Guards + API Client</a:t>
            </a:r>
            <a:endParaRPr lang="en-IN" sz="13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41604F-76C2-6A84-AF08-021B180E1951}"/>
              </a:ext>
            </a:extLst>
          </p:cNvPr>
          <p:cNvSpPr/>
          <p:nvPr/>
        </p:nvSpPr>
        <p:spPr>
          <a:xfrm>
            <a:off x="5334000" y="2857500"/>
            <a:ext cx="1778000" cy="787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300" b="1">
                <a:solidFill>
                  <a:srgbClr val="0F172A"/>
                </a:solidFill>
                <a:latin typeface="Aptos" panose="020B0004020202020204" pitchFamily="34" charset="0"/>
              </a:rPr>
              <a:t>Express API</a:t>
            </a:r>
          </a:p>
          <a:p>
            <a:pPr algn="ctr"/>
            <a:r>
              <a:rPr lang="en-IN" sz="1300" b="1">
                <a:solidFill>
                  <a:srgbClr val="0F172A"/>
                </a:solidFill>
                <a:latin typeface="Aptos" panose="020B0004020202020204" pitchFamily="34" charset="0"/>
              </a:rPr>
              <a:t>Controllers + Middleware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7A4ABA-548E-76FB-17E8-94816C9F4309}"/>
              </a:ext>
            </a:extLst>
          </p:cNvPr>
          <p:cNvSpPr/>
          <p:nvPr/>
        </p:nvSpPr>
        <p:spPr>
          <a:xfrm>
            <a:off x="7747000" y="1587500"/>
            <a:ext cx="1016000" cy="60960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200" b="1">
                <a:solidFill>
                  <a:srgbClr val="134E4A"/>
                </a:solidFill>
                <a:latin typeface="Aptos" panose="020B0004020202020204" pitchFamily="34" charset="0"/>
              </a:rPr>
              <a:t>MongoDB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71D8A9-0ED6-9421-D9D4-35E070FC4EC5}"/>
              </a:ext>
            </a:extLst>
          </p:cNvPr>
          <p:cNvSpPr/>
          <p:nvPr/>
        </p:nvSpPr>
        <p:spPr>
          <a:xfrm>
            <a:off x="7747000" y="2857500"/>
            <a:ext cx="1016000" cy="609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100" b="1">
                <a:solidFill>
                  <a:srgbClr val="334155"/>
                </a:solidFill>
                <a:latin typeface="Aptos" panose="020B0004020202020204" pitchFamily="34" charset="0"/>
              </a:rPr>
              <a:t>Cloudinary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14332E-012C-2ADB-65AA-2A25B3BEDF53}"/>
              </a:ext>
            </a:extLst>
          </p:cNvPr>
          <p:cNvSpPr/>
          <p:nvPr/>
        </p:nvSpPr>
        <p:spPr>
          <a:xfrm>
            <a:off x="7747000" y="4127500"/>
            <a:ext cx="1016000" cy="609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100" b="1">
                <a:solidFill>
                  <a:srgbClr val="334155"/>
                </a:solidFill>
                <a:latin typeface="Aptos" panose="020B0004020202020204" pitchFamily="34" charset="0"/>
              </a:rPr>
              <a:t>Gmail API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F0FF6F-C834-3293-B0B2-12CE86926B29}"/>
              </a:ext>
            </a:extLst>
          </p:cNvPr>
          <p:cNvSpPr/>
          <p:nvPr/>
        </p:nvSpPr>
        <p:spPr>
          <a:xfrm>
            <a:off x="2540000" y="5334000"/>
            <a:ext cx="4064000" cy="609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400" b="1">
                <a:solidFill>
                  <a:srgbClr val="64748B"/>
                </a:solidFill>
                <a:latin typeface="Aptos" panose="020B0004020202020204" pitchFamily="34" charset="0"/>
              </a:rPr>
              <a:t>PLACEHOLDER: Replace with architecture diagram from report, if required.</a:t>
            </a:r>
            <a:endParaRPr lang="en-IN" sz="140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5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17B5B6-6AFD-7EDA-7270-87112FB7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1" r="7965" b="1739"/>
          <a:stretch>
            <a:fillRect/>
          </a:stretch>
        </p:blipFill>
        <p:spPr>
          <a:xfrm>
            <a:off x="-1" y="1125451"/>
            <a:ext cx="9144001" cy="54531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DCA7D3-A32C-DE40-0074-2093F529FA4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Home Screen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07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26622-6A24-BE37-DED8-AF03097F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682587-6E23-4BB9-B253-38BEA5E2C7E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Authentication Screen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DC6598-0597-8788-3FEB-E36C77AF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91" y="1032933"/>
            <a:ext cx="4206233" cy="566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F6CA16-B32B-D5BF-EAD6-E62A65BD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510" y="1624643"/>
            <a:ext cx="4637675" cy="36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2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FF3549-4CE0-80FF-1776-16AA6061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7" b="5491"/>
          <a:stretch>
            <a:fillRect/>
          </a:stretch>
        </p:blipFill>
        <p:spPr>
          <a:xfrm>
            <a:off x="0" y="821266"/>
            <a:ext cx="8101106" cy="60367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D65021-2EB7-FD83-FFB1-18F851AD46D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Citizen Complaint Submission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345BB2-27BE-7F9F-1918-E70DFC41E523}"/>
              </a:ext>
            </a:extLst>
          </p:cNvPr>
          <p:cNvSpPr/>
          <p:nvPr/>
        </p:nvSpPr>
        <p:spPr>
          <a:xfrm>
            <a:off x="6358467" y="2043477"/>
            <a:ext cx="2667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Select waste complaint category.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Add description and optional photo.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Mark exact location on map.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Submit complaint for admin review.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6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6DC15-4167-F1CF-40F9-B81C25D5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2A2554-654D-BE94-17BA-524DFA8E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7041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F4CAC2-1BD4-1D14-50F3-87439633320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 dirty="0">
                <a:solidFill>
                  <a:srgbClr val="FFFFFF"/>
                </a:solidFill>
                <a:latin typeface="Aptos" panose="020B0004020202020204" pitchFamily="34" charset="0"/>
              </a:rPr>
              <a:t>Citizen Tracking – List of Complaints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DFCA48-41E1-986A-B2F2-69EB50D562D2}"/>
              </a:ext>
            </a:extLst>
          </p:cNvPr>
          <p:cNvSpPr/>
          <p:nvPr/>
        </p:nvSpPr>
        <p:spPr>
          <a:xfrm>
            <a:off x="889000" y="4699000"/>
            <a:ext cx="736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Citizen can view all submitted complaints.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Each complaint shows category, photo, date, and current status.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“View details” opens the complete complaint timeline.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06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3AB3C8-4B0C-286F-5BD5-F8100C0E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6209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85488F-3A91-D82F-B021-30353A5EBCE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 dirty="0">
                <a:solidFill>
                  <a:srgbClr val="FFFFFF"/>
                </a:solidFill>
                <a:latin typeface="Aptos" panose="020B0004020202020204" pitchFamily="34" charset="0"/>
              </a:rPr>
              <a:t>Citizen Tracking – Complaint Detail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476D25-A6E5-44EC-4AF0-F6D737F85E53}"/>
              </a:ext>
            </a:extLst>
          </p:cNvPr>
          <p:cNvSpPr/>
          <p:nvPr/>
        </p:nvSpPr>
        <p:spPr>
          <a:xfrm>
            <a:off x="7069667" y="1913467"/>
            <a:ext cx="1913467" cy="4030133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Shows complete complaint information in one place.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Status tracker displays progress from Pending to Resolved.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Status history keeps an audit trail of every update.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Citizen can verify transparency without contacting admin manually.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001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72BDDD-B9E8-E7A0-BB0D-ABE4C85F3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691"/>
            <a:ext cx="6646333" cy="46963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B823C4-C911-A610-8C77-D078BFC65B2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Admin Dashboard Overview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C13005-88EE-C7C3-FA14-0356F041414B}"/>
              </a:ext>
            </a:extLst>
          </p:cNvPr>
          <p:cNvSpPr/>
          <p:nvPr/>
        </p:nvSpPr>
        <p:spPr>
          <a:xfrm>
            <a:off x="6544733" y="1607644"/>
            <a:ext cx="2540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Dashboard shows total, resolved, pending, and high-priority complaints.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Charts summarize complaints by status, category, and date.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Admin can quickly identify workload and complaint trends.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Helps in monitoring overall system performance.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73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CE2857-D0E2-B39B-D6D7-CE8769DB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011"/>
            <a:ext cx="9144000" cy="48459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8903B1-EBCD-F2FF-7874-E1C45D33DE1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Admin Map and Geo Search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86D953-E0DF-37B0-CB4F-02C1D3CCDCE4}"/>
              </a:ext>
            </a:extLst>
          </p:cNvPr>
          <p:cNvSpPr/>
          <p:nvPr/>
        </p:nvSpPr>
        <p:spPr>
          <a:xfrm>
            <a:off x="6282267" y="1625600"/>
            <a:ext cx="2540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Map shows where each complaint was reported.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Admin can click markers to locate complaints quickly.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Nearby complaints can be searched using radius filter.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This helps assign workers based on location.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844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41C4CD-5466-FF18-6D9F-689D0643B1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450"/>
          <a:stretch>
            <a:fillRect/>
          </a:stretch>
        </p:blipFill>
        <p:spPr>
          <a:xfrm>
            <a:off x="0" y="1176867"/>
            <a:ext cx="9144000" cy="25738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5F65FB-FBAB-4417-A3ED-78A592068BE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Worker Management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65A30D-6F5F-0396-0BF1-2977EE823915}"/>
              </a:ext>
            </a:extLst>
          </p:cNvPr>
          <p:cNvSpPr/>
          <p:nvPr/>
        </p:nvSpPr>
        <p:spPr>
          <a:xfrm>
            <a:off x="948267" y="4538133"/>
            <a:ext cx="736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Admin can add sanitation workers with contact and zone details.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Worker accounts are linked with login access.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Active/inactive status controls task assignment.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Worker table shows task load and available actions.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2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A5EA2-A0FB-3DB8-DF14-8D1A7D585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4A98BD-58FC-E08D-44F2-6FEED154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959"/>
          <a:stretch>
            <a:fillRect/>
          </a:stretch>
        </p:blipFill>
        <p:spPr>
          <a:xfrm>
            <a:off x="0" y="1066800"/>
            <a:ext cx="9144000" cy="1983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158A26-08F9-FF6E-5057-7BD7F2C1AC8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Complaint List And Worker Assignment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D92FC0-9E79-716C-C738-30B6C720A784}"/>
              </a:ext>
            </a:extLst>
          </p:cNvPr>
          <p:cNvSpPr/>
          <p:nvPr/>
        </p:nvSpPr>
        <p:spPr>
          <a:xfrm>
            <a:off x="889000" y="5632773"/>
            <a:ext cx="736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Admin views all complaints in a centralized table.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Complaints can be filtered by status or location/address.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Pending complaints can be assigned to active workers.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Assignment changes the complaint status to Assigned.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69045-6B77-F2BA-2E79-1B6211B4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700" y="3050440"/>
            <a:ext cx="3488168" cy="249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E38678-546D-CFC2-0E51-DB963DCB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6445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35E6FF-D269-5FB9-BCD5-01A3804FAC8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Worker Tasks List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A04222-31F6-83BD-8D5E-E86186CBFD0B}"/>
              </a:ext>
            </a:extLst>
          </p:cNvPr>
          <p:cNvSpPr/>
          <p:nvPr/>
        </p:nvSpPr>
        <p:spPr>
          <a:xfrm>
            <a:off x="889000" y="5372100"/>
            <a:ext cx="736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334155"/>
                </a:solidFill>
                <a:latin typeface="Aptos" panose="020B0004020202020204" pitchFamily="34" charset="0"/>
              </a:rPr>
              <a:t>- Worker can view complaints assigned by the admin.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334155"/>
                </a:solidFill>
                <a:latin typeface="Aptos" panose="020B0004020202020204" pitchFamily="34" charset="0"/>
              </a:rPr>
              <a:t>- Each task shows complaint details, citizen contact, address, priority, and status.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334155"/>
                </a:solidFill>
                <a:latin typeface="Aptos" panose="020B0004020202020204" pitchFamily="34" charset="0"/>
              </a:rPr>
              <a:t>- “View location” opens the complaint location for navigation.</a:t>
            </a:r>
          </a:p>
          <a:p>
            <a:pPr>
              <a:spcAft>
                <a:spcPts val="400"/>
              </a:spcAft>
            </a:pPr>
            <a:r>
              <a:rPr lang="en-US" sz="1200">
                <a:solidFill>
                  <a:srgbClr val="334155"/>
                </a:solidFill>
                <a:latin typeface="Aptos" panose="020B0004020202020204" pitchFamily="34" charset="0"/>
              </a:rPr>
              <a:t>- “Start progress” updates the task status to In Progress.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1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0D57D-C043-D398-AF3D-411A1142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91331C-9218-813A-7E58-BBAC88EF8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001463" cy="4902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50E0A0-8A3F-9BF5-C790-348DACDF19A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</a:rPr>
              <a:t>Worker Task Flow</a:t>
            </a:r>
            <a:endParaRPr lang="en-IN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58F87A-02D4-2C3D-7723-C281ED3CA272}"/>
              </a:ext>
            </a:extLst>
          </p:cNvPr>
          <p:cNvSpPr/>
          <p:nvPr/>
        </p:nvSpPr>
        <p:spPr>
          <a:xfrm>
            <a:off x="6587068" y="1608667"/>
            <a:ext cx="2311400" cy="4069723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Once work starts, the task moves from Assigned to In Progress.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After completing cleanup, worker uploads proof of resolution.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Resolved task moves to the Completed Tasks section.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Aptos" panose="020B0004020202020204" pitchFamily="34" charset="0"/>
              </a:rPr>
              <a:t>- Citizen and admin can see the updated status and proof.</a:t>
            </a:r>
            <a:endParaRPr lang="en-IN" sz="12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52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5CD957-07CD-A440-B14E-6A8823FCB6F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Complaint Lifecycle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D183B9-D9FA-091E-4E33-F19B5AD2C471}"/>
              </a:ext>
            </a:extLst>
          </p:cNvPr>
          <p:cNvSpPr/>
          <p:nvPr/>
        </p:nvSpPr>
        <p:spPr>
          <a:xfrm>
            <a:off x="698500" y="2159000"/>
            <a:ext cx="1651000" cy="73660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500" b="1">
                <a:solidFill>
                  <a:srgbClr val="92400E"/>
                </a:solidFill>
                <a:latin typeface="Aptos" panose="020B0004020202020204" pitchFamily="34" charset="0"/>
              </a:rPr>
              <a:t>1. Pending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2726A6-0C88-766A-1D5F-CFD688F1BA1D}"/>
              </a:ext>
            </a:extLst>
          </p:cNvPr>
          <p:cNvSpPr/>
          <p:nvPr/>
        </p:nvSpPr>
        <p:spPr>
          <a:xfrm>
            <a:off x="2730500" y="2159000"/>
            <a:ext cx="1651000" cy="736600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500" b="1">
                <a:solidFill>
                  <a:srgbClr val="1E40AF"/>
                </a:solidFill>
                <a:latin typeface="Aptos" panose="020B0004020202020204" pitchFamily="34" charset="0"/>
              </a:rPr>
              <a:t>2. Assigned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2B9A4F-416E-233B-CABC-12FD5FD50130}"/>
              </a:ext>
            </a:extLst>
          </p:cNvPr>
          <p:cNvSpPr/>
          <p:nvPr/>
        </p:nvSpPr>
        <p:spPr>
          <a:xfrm>
            <a:off x="4762500" y="2159000"/>
            <a:ext cx="1651000" cy="73660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500" b="1">
                <a:solidFill>
                  <a:srgbClr val="075985"/>
                </a:solidFill>
                <a:latin typeface="Aptos" panose="020B0004020202020204" pitchFamily="34" charset="0"/>
              </a:rPr>
              <a:t>3. In Progress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F61A0C-003B-A128-3EE3-50DB7E683C04}"/>
              </a:ext>
            </a:extLst>
          </p:cNvPr>
          <p:cNvSpPr/>
          <p:nvPr/>
        </p:nvSpPr>
        <p:spPr>
          <a:xfrm>
            <a:off x="6794500" y="2159000"/>
            <a:ext cx="1651000" cy="736600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500" b="1">
                <a:solidFill>
                  <a:srgbClr val="166534"/>
                </a:solidFill>
                <a:latin typeface="Aptos" panose="020B0004020202020204" pitchFamily="34" charset="0"/>
              </a:rPr>
              <a:t>4. Resolved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C34B88-2321-764B-3841-19E6188C79D2}"/>
              </a:ext>
            </a:extLst>
          </p:cNvPr>
          <p:cNvSpPr/>
          <p:nvPr/>
        </p:nvSpPr>
        <p:spPr>
          <a:xfrm>
            <a:off x="1270000" y="3810000"/>
            <a:ext cx="6604000" cy="14605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Pending: Complaint is submitted by the citizen and awaits admin review.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Assigned: Admin assigns the complaint to an available worker.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In Progress: Worker starts resolving the assigned complaint.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Resolved: Worker completes the task and uploads proof of resolution.</a:t>
            </a:r>
            <a:endParaRPr lang="en-IN" sz="14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539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EF70E3-32B7-D090-A627-374C052ECA9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Database and API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AB5386-289D-7457-FAF0-C2C06E98802F}"/>
              </a:ext>
            </a:extLst>
          </p:cNvPr>
          <p:cNvSpPr/>
          <p:nvPr/>
        </p:nvSpPr>
        <p:spPr>
          <a:xfrm>
            <a:off x="571500" y="1219200"/>
            <a:ext cx="3746500" cy="4318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Database Models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8E3942-F1FA-1DA6-1631-88C8D628D4E8}"/>
              </a:ext>
            </a:extLst>
          </p:cNvPr>
          <p:cNvSpPr/>
          <p:nvPr/>
        </p:nvSpPr>
        <p:spPr>
          <a:xfrm>
            <a:off x="571500" y="1778000"/>
            <a:ext cx="3746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User: name, email, phone, password hash, role.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Complaint: category, photo, location, status, priority, assigned worker.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Worker: linked user account, zone, active status, task count.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n-US" sz="1400" dirty="0" err="1">
                <a:solidFill>
                  <a:srgbClr val="334155"/>
                </a:solidFill>
                <a:latin typeface="Aptos" panose="020B0004020202020204" pitchFamily="34" charset="0"/>
              </a:rPr>
              <a:t>StatusLog</a:t>
            </a: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: old status, new status, updated by, timestamp.</a:t>
            </a:r>
            <a:endParaRPr lang="en-IN" sz="14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47D4FF-553A-025F-334F-305AB5D6A807}"/>
              </a:ext>
            </a:extLst>
          </p:cNvPr>
          <p:cNvSpPr/>
          <p:nvPr/>
        </p:nvSpPr>
        <p:spPr>
          <a:xfrm>
            <a:off x="4826000" y="1219200"/>
            <a:ext cx="3746500" cy="431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API Groups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6BE657-495F-A755-0C3B-5B7E9CED7D03}"/>
              </a:ext>
            </a:extLst>
          </p:cNvPr>
          <p:cNvSpPr/>
          <p:nvPr/>
        </p:nvSpPr>
        <p:spPr>
          <a:xfrm>
            <a:off x="4826000" y="1778000"/>
            <a:ext cx="3746500" cy="381000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Authentication: register, login, current user.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Complaints: create complaint, view own complaints, view details.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Admin: manage complaints, assign workers, update status, view analytics.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34155"/>
                </a:solidFill>
                <a:latin typeface="Aptos" panose="020B0004020202020204" pitchFamily="34" charset="0"/>
              </a:rPr>
              <a:t>- Worker: view assigned tasks, start work, upload resolution proof.</a:t>
            </a:r>
            <a:endParaRPr lang="en-IN" sz="14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063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1BDCC9-4ABE-CFBF-2DEA-AFB1BC9FA1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Security, Reliability and Notifications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B68979-B925-F4BB-BF86-352328E972A8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JWT authentication secures protected routes and APIs.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Role-based access separates citizen, admin, and worker features.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Passwords are stored securely using </a:t>
            </a:r>
            <a:r>
              <a:rPr lang="en-US" sz="1500" dirty="0" err="1">
                <a:solidFill>
                  <a:srgbClr val="334155"/>
                </a:solidFill>
                <a:latin typeface="Aptos" panose="020B0004020202020204" pitchFamily="34" charset="0"/>
              </a:rPr>
              <a:t>bcrypt</a:t>
            </a: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 hashing.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Middleware handles validation, authorization, and errors.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Logs help track requests and debug issues.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Email notifications update users about complaint progress.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SLA escalation highlights unresolved complaints automatically.</a:t>
            </a:r>
            <a:endParaRPr lang="en-IN" sz="15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6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28FA80-F64F-9CFE-FF77-E7C1F6DBF11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Results and Discussion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4AF7DF-6102-1FAA-6827-991776D839C6}"/>
              </a:ext>
            </a:extLst>
          </p:cNvPr>
          <p:cNvSpPr/>
          <p:nvPr/>
        </p:nvSpPr>
        <p:spPr>
          <a:xfrm>
            <a:off x="571500" y="1219200"/>
            <a:ext cx="3746500" cy="4318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Testing Performed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4CB9B2-FF20-2BD7-F36F-0F26498CB3F8}"/>
              </a:ext>
            </a:extLst>
          </p:cNvPr>
          <p:cNvSpPr/>
          <p:nvPr/>
        </p:nvSpPr>
        <p:spPr>
          <a:xfrm>
            <a:off x="571500" y="1778000"/>
            <a:ext cx="3746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Verified login flows for all three roles.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Tested complaint submission with map coordinates and image upload.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Checked admin assignment, filtering, analytics, and worker management.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Verified worker progress and proof upload.</a:t>
            </a:r>
            <a:endParaRPr lang="en-IN" sz="14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AFB5FC-6B54-1C90-0D65-48810AFDE3C2}"/>
              </a:ext>
            </a:extLst>
          </p:cNvPr>
          <p:cNvSpPr/>
          <p:nvPr/>
        </p:nvSpPr>
        <p:spPr>
          <a:xfrm>
            <a:off x="4826000" y="1219200"/>
            <a:ext cx="3746500" cy="431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548330-767B-AFE6-0B9D-54642EE2624B}"/>
              </a:ext>
            </a:extLst>
          </p:cNvPr>
          <p:cNvSpPr/>
          <p:nvPr/>
        </p:nvSpPr>
        <p:spPr>
          <a:xfrm>
            <a:off x="4826000" y="1778000"/>
            <a:ext cx="3746500" cy="3810000"/>
          </a:xfrm>
          <a:prstGeom prst="roundRect">
            <a:avLst/>
          </a:prstGeom>
          <a:solidFill>
            <a:srgbClr val="F0FDFA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End-to-end complaint reporting works.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Admin can assign, monitor, and analyze complaints.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Worker can close tasks with proof.</a:t>
            </a:r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  <a:latin typeface="Aptos" panose="020B0004020202020204" pitchFamily="34" charset="0"/>
              </a:rPr>
              <a:t>- Citizen can track progress transparently.</a:t>
            </a:r>
            <a:endParaRPr lang="en-IN" sz="14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35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B31ED5-1E83-019C-A1E9-D04C4126BB3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Limitations and Future Scope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4D867E-0888-73E7-9B54-95F644EC1703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Add password reset and stronger account recovery.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Add automated Jest/API test coverage.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Add push or SMS notifications.</a:t>
            </a:r>
            <a:endParaRPr lang="en-IN" sz="15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636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FB786-4C97-3745-9ED0-BA8F718FD47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 dirty="0">
                <a:solidFill>
                  <a:srgbClr val="FFFFFF"/>
                </a:solidFill>
                <a:latin typeface="Aptos" panose="020B0004020202020204" pitchFamily="34" charset="0"/>
              </a:rPr>
              <a:t>Project Highlights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5B7CE2-B6CA-5613-F126-C89EBB927D1C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Full-stack MERN implementation with role-based access.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Geo-tagged complaint reporting using map integration.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Admin dashboard for assignment, tracking, and analytics.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Worker task flow with proof-of-resolution upload.</a:t>
            </a:r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334155"/>
                </a:solidFill>
                <a:latin typeface="Aptos" panose="020B0004020202020204" pitchFamily="34" charset="0"/>
              </a:rPr>
              <a:t>- Status history improves transparency and accountability.</a:t>
            </a:r>
            <a:endParaRPr lang="en-IN" sz="15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583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FA9F99-82CC-0C22-B4AD-EC79831EC3F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1B49CE-BAA8-17B9-F81E-608E9B7A44F2}"/>
              </a:ext>
            </a:extLst>
          </p:cNvPr>
          <p:cNvSpPr/>
          <p:nvPr/>
        </p:nvSpPr>
        <p:spPr>
          <a:xfrm>
            <a:off x="889000" y="1460500"/>
            <a:ext cx="7366000" cy="4191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React documentation: https://react.dev</a:t>
            </a:r>
          </a:p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Node.js documentation: https://nodejs.org/docs</a:t>
            </a:r>
          </a:p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Express.js documentation: https://expressjs.com</a:t>
            </a:r>
          </a:p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MongoDB and Mongoose documentation: https://www.mongodb.com/docs and https://mongoosejs.com</a:t>
            </a:r>
          </a:p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Leaflet documentation for interactive maps: https://leafletjs.com</a:t>
            </a:r>
          </a:p>
          <a:p>
            <a:pPr>
              <a:spcAft>
                <a:spcPts val="400"/>
              </a:spcAft>
            </a:pP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n-IN" sz="1500" dirty="0" err="1">
                <a:solidFill>
                  <a:srgbClr val="334155"/>
                </a:solidFill>
                <a:latin typeface="Aptos" panose="020B0004020202020204" pitchFamily="34" charset="0"/>
              </a:rPr>
              <a:t>Cloudinary</a:t>
            </a:r>
            <a:r>
              <a:rPr lang="en-IN" sz="1500" dirty="0">
                <a:solidFill>
                  <a:srgbClr val="334155"/>
                </a:solidFill>
                <a:latin typeface="Aptos" panose="020B0004020202020204" pitchFamily="34" charset="0"/>
              </a:rPr>
              <a:t> and Gmail API documentation for image storage and email notification concepts.</a:t>
            </a:r>
          </a:p>
        </p:txBody>
      </p:sp>
    </p:spTree>
    <p:extLst>
      <p:ext uri="{BB962C8B-B14F-4D97-AF65-F5344CB8AC3E}">
        <p14:creationId xmlns:p14="http://schemas.microsoft.com/office/powerpoint/2010/main" val="3696239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51C20-1B34-C97D-E4E6-E5BE8A80A8D5}"/>
              </a:ext>
            </a:extLst>
          </p:cNvPr>
          <p:cNvSpPr/>
          <p:nvPr/>
        </p:nvSpPr>
        <p:spPr>
          <a:xfrm>
            <a:off x="889000" y="1333500"/>
            <a:ext cx="7366000" cy="165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Ins="177800" bIns="101600" rtlCol="0" anchor="ctr"/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21A982-A486-6CA4-C78B-F0B05F80B2FD}"/>
              </a:ext>
            </a:extLst>
          </p:cNvPr>
          <p:cNvSpPr/>
          <p:nvPr/>
        </p:nvSpPr>
        <p:spPr>
          <a:xfrm>
            <a:off x="1143000" y="3111500"/>
            <a:ext cx="6858000" cy="101600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ctr"/>
            <a:r>
              <a:rPr lang="en-US" sz="1500" b="1" dirty="0">
                <a:solidFill>
                  <a:srgbClr val="134E4A"/>
                </a:solidFill>
                <a:latin typeface="Aptos" panose="020B0004020202020204" pitchFamily="34" charset="0"/>
              </a:rPr>
              <a:t>Questions?</a:t>
            </a:r>
          </a:p>
          <a:p>
            <a:pPr algn="ctr"/>
            <a:r>
              <a:rPr lang="en-US" sz="1500" b="1" dirty="0">
                <a:solidFill>
                  <a:srgbClr val="134E4A"/>
                </a:solidFill>
                <a:latin typeface="Aptos" panose="020B0004020202020204" pitchFamily="34" charset="0"/>
              </a:rPr>
              <a:t>Project: Smart Waste Complaint and Collection Management System</a:t>
            </a:r>
          </a:p>
          <a:p>
            <a:pPr algn="ctr"/>
            <a:r>
              <a:rPr lang="en-US" sz="1500" b="1" dirty="0">
                <a:solidFill>
                  <a:srgbClr val="134E4A"/>
                </a:solidFill>
                <a:latin typeface="Aptos" panose="020B0004020202020204" pitchFamily="34" charset="0"/>
              </a:rPr>
              <a:t>Laiba Naushad (324101314)</a:t>
            </a:r>
            <a:endParaRPr lang="en-IN" sz="1500" b="1" dirty="0">
              <a:solidFill>
                <a:srgbClr val="134E4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96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1235</Words>
  <Application>Microsoft Office PowerPoint</Application>
  <PresentationFormat>On-screen Show (4:3)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kumar</dc:creator>
  <cp:lastModifiedBy>sumit kumar</cp:lastModifiedBy>
  <cp:revision>4</cp:revision>
  <dcterms:created xsi:type="dcterms:W3CDTF">2026-09-12T08:33:24Z</dcterms:created>
  <dcterms:modified xsi:type="dcterms:W3CDTF">2026-09-12T10:16:02Z</dcterms:modified>
</cp:coreProperties>
</file>